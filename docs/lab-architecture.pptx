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</a:rPr>
              <a:t>Cipherops: dual-path architecture (library + real DNS lab)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7548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</a:rPr>
              <a:t>PS-036 · Same PQC (SLH-DSA) with and without MTL · three sizes · pinned Verisign reference · IETF / national panel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868680"/>
            <a:ext cx="3657600" cy="48920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5875">
            <a:solidFill>
              <a:srgbClr val="8A99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ctr"/>
            <a:r>
              <a:rPr b="1" sz="1200">
                <a:solidFill>
                  <a:srgbClr val="1F3A5F"/>
                </a:solidFill>
              </a:rPr>
              <a:t>Path A — Library harness (main Cipherops)</a:t>
            </a:r>
          </a:p>
          <a:p>
            <a:pPr algn="ctr"/>
            <a:r>
              <a:rPr sz="1000">
                <a:solidFill>
                  <a:srgbClr val="1F3A5F"/>
                </a:solidFill>
              </a:rPr>
              <a:t>Pinned Fedora image · MTL @7cef019 · liboqs 0.16</a:t>
            </a:r>
          </a:p>
          <a:p>
            <a:pPr algn="ctr"/>
            <a:r>
              <a:rPr sz="1000">
                <a:solidFill>
                  <a:srgbClr val="1F3A5F"/>
                </a:solidFill>
              </a:rPr>
              <a:t/>
            </a:r>
          </a:p>
          <a:p>
            <a:pPr algn="ctr"/>
            <a:r>
              <a:rPr sz="1000">
                <a:solidFill>
                  <a:srgbClr val="1F3A5F"/>
                </a:solidFill>
              </a:rPr>
              <a:t>cipherops.runner  →  mtlbench.c</a:t>
            </a:r>
          </a:p>
          <a:p>
            <a:pPr algn="ctr"/>
            <a:r>
              <a:rPr sz="1000">
                <a:solidFill>
                  <a:srgbClr val="1F3A5F"/>
                </a:solidFill>
              </a:rPr>
              <a:t>Sign / verify in-process</a:t>
            </a:r>
          </a:p>
          <a:p>
            <a:pPr algn="ctr"/>
            <a:r>
              <a:rPr sz="1000">
                <a:solidFill>
                  <a:srgbClr val="1F3A5F"/>
                </a:solidFill>
              </a:rPr>
              <a:t>dnswire + cache model</a:t>
            </a:r>
          </a:p>
          <a:p>
            <a:pPr algn="ctr"/>
            <a:r>
              <a:rPr sz="1000">
                <a:solidFill>
                  <a:srgbClr val="1F3A5F"/>
                </a:solidFill>
              </a:rPr>
              <a:t>report.html  (results/runs/…)</a:t>
            </a:r>
          </a:p>
          <a:p>
            <a:pPr algn="ctr"/>
            <a:r>
              <a:rPr sz="1000">
                <a:solidFill>
                  <a:srgbClr val="1F3A5F"/>
                </a:solidFill>
              </a:rPr>
              <a:t/>
            </a:r>
          </a:p>
          <a:p>
            <a:pPr algn="ctr"/>
            <a:r>
              <a:rPr sz="1000">
                <a:solidFill>
                  <a:srgbClr val="1F3A5F"/>
                </a:solidFill>
              </a:rPr>
              <a:t>Best for: precise crypto timings,</a:t>
            </a:r>
          </a:p>
          <a:p>
            <a:pPr algn="ctr"/>
            <a:r>
              <a:rPr sz="1000">
                <a:solidFill>
                  <a:srgbClr val="1F3A5F"/>
                </a:solidFill>
              </a:rPr>
              <a:t>signature sizes, UDP-fit 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3246120"/>
            <a:ext cx="3383280" cy="77724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100">
                <a:solidFill>
                  <a:srgbClr val="1F3A5F"/>
                </a:solidFill>
              </a:rPr>
              <a:t>Crypto (unmodified)</a:t>
            </a:r>
          </a:p>
          <a:p>
            <a:pPr algn="ctr"/>
            <a:r>
              <a:rPr sz="900">
                <a:solidFill>
                  <a:srgbClr val="1F3A5F"/>
                </a:solidFill>
              </a:rPr>
              <a:t>Verisign MTL · liboqs SLH-DSA · OpenSSL classical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16052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3EEF9"/>
          </a:solidFill>
          <a:ln w="15875">
            <a:solidFill>
              <a:srgbClr val="7B52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ctr"/>
            <a:r>
              <a:rPr b="1" sz="1100">
                <a:solidFill>
                  <a:srgbClr val="3F2560"/>
                </a:solidFill>
              </a:rPr>
              <a:t>Outputs</a:t>
            </a:r>
          </a:p>
          <a:p>
            <a:pPr algn="ctr"/>
            <a:r>
              <a:rPr sz="900">
                <a:solidFill>
                  <a:srgbClr val="3F2560"/>
                </a:solidFill>
              </a:rPr>
              <a:t>trials · responses · workload · cache</a:t>
            </a:r>
          </a:p>
          <a:p>
            <a:pPr algn="ctr"/>
            <a:r>
              <a:rPr sz="900">
                <a:solidFill>
                  <a:srgbClr val="3F2560"/>
                </a:solidFill>
              </a:rPr>
              <a:t>report.md / .html · figures/</a:t>
            </a:r>
          </a:p>
          <a:p>
            <a:pPr algn="ctr"/>
            <a:r>
              <a:rPr sz="900">
                <a:solidFill>
                  <a:srgbClr val="3F2560"/>
                </a:solidFill>
              </a:rPr>
              <a:t>scripts/run_benchmark.ps1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868680"/>
            <a:ext cx="3931920" cy="1051560"/>
          </a:xfrm>
          <a:prstGeom prst="roundRect">
            <a:avLst>
              <a:gd name="adj" fmla="val 8000"/>
            </a:avLst>
          </a:prstGeom>
          <a:solidFill>
            <a:srgbClr val="EAF4FF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300">
                <a:solidFill>
                  <a:srgbClr val="1F3A5F"/>
                </a:solidFill>
              </a:rPr>
              <a:t>Dashboard (Streamlit)</a:t>
            </a:r>
          </a:p>
          <a:p>
            <a:pPr algn="ctr"/>
            <a:r>
              <a:rPr sz="1000">
                <a:solidFill>
                  <a:srgbClr val="1F3A5F"/>
                </a:solidFill>
              </a:rPr>
              <a:t>live_lab/app.py · five tiles</a:t>
            </a:r>
          </a:p>
          <a:p>
            <a:pPr algn="ctr"/>
            <a:r>
              <a:rPr sz="1000">
                <a:solidFill>
                  <a:srgbClr val="1F3A5F"/>
                </a:solidFill>
              </a:rPr>
              <a:t>Home · Setup · Live · Benchmark · Compare · Reset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3931920" y="1371600"/>
            <a:ext cx="182880" cy="731520"/>
          </a:xfrm>
          <a:prstGeom prst="line">
            <a:avLst/>
          </a:prstGeom>
          <a:ln w="22225">
            <a:solidFill>
              <a:srgbClr val="8A99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046720" y="1371600"/>
            <a:ext cx="182880" cy="731520"/>
          </a:xfrm>
          <a:prstGeom prst="line">
            <a:avLst/>
          </a:prstGeom>
          <a:ln w="22225">
            <a:solidFill>
              <a:srgbClr val="8A99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14800" y="2057400"/>
            <a:ext cx="3931920" cy="37033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5875">
            <a:solidFill>
              <a:srgbClr val="8A99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ctr"/>
            <a:r>
              <a:rPr b="1" sz="1200">
                <a:solidFill>
                  <a:srgbClr val="1F3A5F"/>
                </a:solidFill>
              </a:rPr>
              <a:t>Path B — Real DNS lab (ecosystem)</a:t>
            </a:r>
          </a:p>
          <a:p>
            <a:pPr algn="ctr"/>
            <a:r>
              <a:rPr sz="1000">
                <a:solidFill>
                  <a:srgbClr val="1F3A5F"/>
                </a:solidFill>
              </a:rPr>
              <a:t>Stack draft06 (panel default) or latest</a:t>
            </a:r>
          </a:p>
          <a:p>
            <a:pPr algn="ctr"/>
            <a:r>
              <a:rPr sz="1000">
                <a:solidFill>
                  <a:srgbClr val="1F3A5F"/>
                </a:solidFill>
              </a:rPr>
              <a:t>MTL-mode NSD · Unbound · ldns tools</a:t>
            </a:r>
          </a:p>
          <a:p>
            <a:pPr algn="ctr"/>
            <a:r>
              <a:rPr sz="1000">
                <a:solidFill>
                  <a:srgbClr val="1F3A5F"/>
                </a:solidFill>
              </a:rPr>
              <a:t/>
            </a:r>
          </a:p>
          <a:p>
            <a:pPr algn="ctr"/>
            <a:r>
              <a:rPr sz="1000">
                <a:solidFill>
                  <a:srgbClr val="1F3A5F"/>
                </a:solidFill>
              </a:rPr>
              <a:t>Hierarchy: root → TLD → leaf zones</a:t>
            </a:r>
          </a:p>
          <a:p>
            <a:pPr algn="ctr"/>
            <a:r>
              <a:rPr sz="1000">
                <a:solidFill>
                  <a:srgbClr val="1F3A5F"/>
                </a:solidFill>
              </a:rPr>
              <a:t>Stub client → Unbound → authorities</a:t>
            </a:r>
          </a:p>
          <a:p>
            <a:pPr algn="ctr"/>
            <a:r>
              <a:rPr sz="1000">
                <a:solidFill>
                  <a:srgbClr val="1F3A5F"/>
                </a:solidFill>
              </a:rPr>
              <a:t>pcap on Unbound iface · unbound-control</a:t>
            </a:r>
          </a:p>
          <a:p>
            <a:pPr algn="ctr"/>
            <a:r>
              <a:rPr sz="1000">
                <a:solidFill>
                  <a:srgbClr val="1F3A5F"/>
                </a:solidFill>
              </a:rPr>
              <a:t/>
            </a:r>
          </a:p>
          <a:p>
            <a:pPr algn="ctr"/>
            <a:r>
              <a:rPr sz="1000">
                <a:solidFill>
                  <a:srgbClr val="1F3A5F"/>
                </a:solidFill>
              </a:rPr>
              <a:t>Benchmark suite: sizes 50 / 500 / 5,000</a:t>
            </a:r>
          </a:p>
          <a:p>
            <a:pPr algn="ctr"/>
            <a:r>
              <a:rPr sz="1000">
                <a:solidFill>
                  <a:srgbClr val="1F3A5F"/>
                </a:solidFill>
              </a:rPr>
              <a:t>self-contained (images only; no Prepare)</a:t>
            </a:r>
          </a:p>
          <a:p>
            <a:pPr algn="ctr"/>
            <a:r>
              <a:rPr sz="1000">
                <a:solidFill>
                  <a:srgbClr val="1F3A5F"/>
                </a:solidFill>
              </a:rPr>
              <a:t>suite report.html  (like Path 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868680"/>
            <a:ext cx="3657600" cy="48920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5875">
            <a:solidFill>
              <a:srgbClr val="8A99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ctr"/>
            <a:r>
              <a:rPr b="1" sz="1200">
                <a:solidFill>
                  <a:srgbClr val="1F3A5F"/>
                </a:solidFill>
              </a:rPr>
              <a:t>Lab building blocks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371600"/>
            <a:ext cx="3383280" cy="640080"/>
          </a:xfrm>
          <a:prstGeom prst="roundRect">
            <a:avLst>
              <a:gd name="adj" fmla="val 8000"/>
            </a:avLst>
          </a:prstGeom>
          <a:solidFill>
            <a:srgbClr val="2F6FB0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100">
                <a:solidFill>
                  <a:srgbClr val="FFFFFF"/>
                </a:solidFill>
              </a:rPr>
              <a:t>ecolab (Python)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zones · sign · topology · run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148840"/>
            <a:ext cx="3383280" cy="640080"/>
          </a:xfrm>
          <a:prstGeom prst="roundRect">
            <a:avLst>
              <a:gd name="adj" fmla="val 8000"/>
            </a:avLst>
          </a:prstGeom>
          <a:solidFill>
            <a:srgbClr val="2F6FB0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100">
                <a:solidFill>
                  <a:srgbClr val="FFFFFF"/>
                </a:solidFill>
              </a:rPr>
              <a:t>Docker images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cipherops-eco-nsd / unbound / 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2926080"/>
            <a:ext cx="3383280" cy="868680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1587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100">
                <a:solidFill>
                  <a:srgbClr val="7A4A00"/>
                </a:solidFill>
              </a:rPr>
              <a:t>Live tile</a:t>
            </a:r>
          </a:p>
          <a:p>
            <a:pPr algn="ctr"/>
            <a:r>
              <a:rPr sz="900">
                <a:solidFill>
                  <a:srgbClr val="7A4A00"/>
                </a:solidFill>
              </a:rPr>
              <a:t>Query · cold/warm · pcap sequence</a:t>
            </a:r>
          </a:p>
          <a:p>
            <a:pPr algn="ctr"/>
            <a:r>
              <a:rPr sz="900">
                <a:solidFill>
                  <a:srgbClr val="7A4A00"/>
                </a:solidFill>
              </a:rPr>
              <a:t>Technical demonstration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3931920"/>
            <a:ext cx="3383280" cy="1554480"/>
          </a:xfrm>
          <a:prstGeom prst="roundRect">
            <a:avLst>
              <a:gd name="adj" fmla="val 8000"/>
            </a:avLst>
          </a:prstGeom>
          <a:solidFill>
            <a:srgbClr val="F3EEF9"/>
          </a:solidFill>
          <a:ln w="15875">
            <a:solidFill>
              <a:srgbClr val="7B52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ctr"/>
            <a:r>
              <a:rPr b="1" sz="1100">
                <a:solidFill>
                  <a:srgbClr val="3F2560"/>
                </a:solidFill>
              </a:rPr>
              <a:t>Outputs</a:t>
            </a:r>
          </a:p>
          <a:p>
            <a:pPr algn="ctr"/>
            <a:r>
              <a:rPr sz="900">
                <a:solidFill>
                  <a:srgbClr val="3F2560"/>
                </a:solidFill>
              </a:rPr>
              <a:t>ecosystem/results/suites/&lt;id&gt;/</a:t>
            </a:r>
          </a:p>
          <a:p>
            <a:pPr algn="ctr"/>
            <a:r>
              <a:rPr sz="900">
                <a:solidFill>
                  <a:srgbClr val="3F2560"/>
                </a:solidFill>
              </a:rPr>
              <a:t>report.md · report.html · figures/</a:t>
            </a:r>
          </a:p>
          <a:p>
            <a:pPr algn="ctr"/>
            <a:r>
              <a:rPr sz="900">
                <a:solidFill>
                  <a:srgbClr val="3F2560"/>
                </a:solidFill>
              </a:rPr>
              <a:t>signing_*.csv · per-size run.json</a:t>
            </a:r>
          </a:p>
          <a:p>
            <a:pPr algn="ctr"/>
            <a:r>
              <a:rPr sz="900">
                <a:solidFill>
                  <a:srgbClr val="3F2560"/>
                </a:solidFill>
              </a:rPr>
              <a:t>pcap/ · summary.csv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5897880"/>
            <a:ext cx="1165860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A99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100">
                <a:solidFill>
                  <a:srgbClr val="1F3A5F"/>
                </a:solidFill>
              </a:rPr>
              <a:t>Compared on equivalent workloads:   ECDSA  ·  Ed25519  ·  RSA-2048  ·  SLH-DSA  ·  SLH-DSA + MTL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6355080"/>
            <a:ext cx="1165860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A99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100">
                <a:solidFill>
                  <a:srgbClr val="1F3A5F"/>
                </a:solidFill>
              </a:rPr>
              <a:t>Measured (lab): signing · ldns-verify-zone · pcap bytes · Unbound cache     |     Estimated: sample-trial sign/verify     |     Analytical: draft section 12 sizes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</a:rPr>
              <a:t>Cipherops lab: end-to-end Benchmark suite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548640"/>
            <a:ext cx="11521440" cy="41148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100">
                <a:solidFill>
                  <a:srgbClr val="FFFFFF"/>
                </a:solidFill>
              </a:rPr>
              <a:t>Dashboard Benchmark  →  python -m live_lab.suite params.json  →  for each size: sign · sample trials · up · measure · down  →  suite_report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143000"/>
            <a:ext cx="1554480" cy="731520"/>
          </a:xfrm>
          <a:prstGeom prst="roundRect">
            <a:avLst>
              <a:gd name="adj" fmla="val 8000"/>
            </a:avLst>
          </a:prstGeom>
          <a:solidFill>
            <a:srgbClr val="2F6FB0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200">
                <a:solidFill>
                  <a:srgbClr val="FFFFFF"/>
                </a:solidFill>
              </a:rPr>
              <a:t>1  Configure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sidebar + suite.py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2011680"/>
            <a:ext cx="15544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l"/>
            <a:r>
              <a:rPr b="1" sz="1000">
                <a:solidFill>
                  <a:srgbClr val="4A5568"/>
                </a:solidFill>
              </a:rPr>
              <a:t>What it does</a:t>
            </a:r>
          </a:p>
          <a:p>
            <a:pPr algn="l"/>
            <a:r>
              <a:rPr sz="1000">
                <a:solidFill>
                  <a:srgbClr val="4A5568"/>
                </a:solidFill>
              </a:rPr>
              <a:t>• Sizes 50 / 500 / 5k</a:t>
            </a:r>
          </a:p>
          <a:p>
            <a:pPr algn="l"/>
            <a:r>
              <a:rPr sz="1000">
                <a:solidFill>
                  <a:srgbClr val="4A5568"/>
                </a:solidFill>
              </a:rPr>
              <a:t>• Scenarios (mtl vs slh-dsa)</a:t>
            </a:r>
          </a:p>
          <a:p>
            <a:pPr algn="l"/>
            <a:r>
              <a:rPr sz="1000">
                <a:solidFill>
                  <a:srgbClr val="4A5568"/>
                </a:solidFill>
              </a:rPr>
              <a:t>• Trials · lookups · 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3703320"/>
            <a:ext cx="1554480" cy="1234440"/>
          </a:xfrm>
          <a:prstGeom prst="roundRect">
            <a:avLst>
              <a:gd name="adj" fmla="val 8000"/>
            </a:avLst>
          </a:prstGeom>
          <a:solidFill>
            <a:srgbClr val="F3EEF9"/>
          </a:solidFill>
          <a:ln w="15875">
            <a:solidFill>
              <a:srgbClr val="7B52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ctr"/>
            <a:r>
              <a:rPr b="1" sz="1000">
                <a:solidFill>
                  <a:srgbClr val="3F2560"/>
                </a:solidFill>
              </a:rPr>
              <a:t>Produces</a:t>
            </a:r>
          </a:p>
          <a:p>
            <a:pPr algn="ctr"/>
            <a:r>
              <a:rPr sz="1000">
                <a:solidFill>
                  <a:srgbClr val="3F2560"/>
                </a:solidFill>
              </a:rPr>
              <a:t>params.json</a:t>
            </a:r>
          </a:p>
          <a:p>
            <a:pPr algn="ctr"/>
            <a:r>
              <a:rPr sz="1000">
                <a:solidFill>
                  <a:srgbClr val="3F2560"/>
                </a:solidFill>
              </a:rPr>
              <a:t>_bench-N.yaml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84248" y="1143000"/>
            <a:ext cx="1554480" cy="731520"/>
          </a:xfrm>
          <a:prstGeom prst="roundRect">
            <a:avLst>
              <a:gd name="adj" fmla="val 8000"/>
            </a:avLst>
          </a:prstGeom>
          <a:solidFill>
            <a:srgbClr val="2F6FB0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200">
                <a:solidFill>
                  <a:srgbClr val="FFFFFF"/>
                </a:solidFill>
              </a:rPr>
              <a:t>2  Shape zones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ecolab.zones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84248" y="2011680"/>
            <a:ext cx="15544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l"/>
            <a:r>
              <a:rPr b="1" sz="1000">
                <a:solidFill>
                  <a:srgbClr val="4A5568"/>
                </a:solidFill>
              </a:rPr>
              <a:t>What it does</a:t>
            </a:r>
          </a:p>
          <a:p>
            <a:pPr algn="l"/>
            <a:r>
              <a:rPr sz="1000">
                <a:solidFill>
                  <a:srgbClr val="4A5568"/>
                </a:solidFill>
              </a:rPr>
              <a:t>• 1 TLD, ≤4 leaves</a:t>
            </a:r>
          </a:p>
          <a:p>
            <a:pPr algn="l"/>
            <a:r>
              <a:rPr sz="1000">
                <a:solidFill>
                  <a:srgbClr val="4A5568"/>
                </a:solidFill>
              </a:rPr>
              <a:t>• Split N names</a:t>
            </a:r>
          </a:p>
          <a:p>
            <a:pPr algn="l"/>
            <a:r>
              <a:rPr sz="1000">
                <a:solidFill>
                  <a:srgbClr val="4A5568"/>
                </a:solidFill>
              </a:rPr>
              <a:t>• Frozen unsigned zones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84248" y="3703320"/>
            <a:ext cx="1554480" cy="1234440"/>
          </a:xfrm>
          <a:prstGeom prst="roundRect">
            <a:avLst>
              <a:gd name="adj" fmla="val 8000"/>
            </a:avLst>
          </a:prstGeom>
          <a:solidFill>
            <a:srgbClr val="F3EEF9"/>
          </a:solidFill>
          <a:ln w="15875">
            <a:solidFill>
              <a:srgbClr val="7B52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ctr"/>
            <a:r>
              <a:rPr b="1" sz="1000">
                <a:solidFill>
                  <a:srgbClr val="3F2560"/>
                </a:solidFill>
              </a:rPr>
              <a:t>Produces</a:t>
            </a:r>
          </a:p>
          <a:p>
            <a:pPr algn="ctr"/>
            <a:r>
              <a:rPr sz="1000">
                <a:solidFill>
                  <a:srgbClr val="3F2560"/>
                </a:solidFill>
              </a:rPr>
              <a:t>work/&lt;tag&gt;/zones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74519" y="1508760"/>
            <a:ext cx="109729" cy="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48456" y="1143000"/>
            <a:ext cx="1554480" cy="731520"/>
          </a:xfrm>
          <a:prstGeom prst="roundRect">
            <a:avLst>
              <a:gd name="adj" fmla="val 8000"/>
            </a:avLst>
          </a:prstGeom>
          <a:solidFill>
            <a:srgbClr val="2F6FB0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200">
                <a:solidFill>
                  <a:srgbClr val="FFFFFF"/>
                </a:solidFill>
              </a:rPr>
              <a:t>3  Sign once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ecolab.sign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48456" y="2011680"/>
            <a:ext cx="15544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l"/>
            <a:r>
              <a:rPr b="1" sz="1000">
                <a:solidFill>
                  <a:srgbClr val="4A5568"/>
                </a:solidFill>
              </a:rPr>
              <a:t>What it does</a:t>
            </a:r>
          </a:p>
          <a:p>
            <a:pPr algn="l"/>
            <a:r>
              <a:rPr sz="1000">
                <a:solidFill>
                  <a:srgbClr val="4A5568"/>
                </a:solidFill>
              </a:rPr>
              <a:t>• ldns-keygen / signzone</a:t>
            </a:r>
          </a:p>
          <a:p>
            <a:pPr algn="l"/>
            <a:r>
              <a:rPr sz="1000">
                <a:solidFill>
                  <a:srgbClr val="4A5568"/>
                </a:solidFill>
              </a:rPr>
              <a:t>• jobs=1 clean timings</a:t>
            </a:r>
          </a:p>
          <a:p>
            <a:pPr algn="l"/>
            <a:r>
              <a:rPr sz="1000">
                <a:solidFill>
                  <a:srgbClr val="4A5568"/>
                </a:solidFill>
              </a:rPr>
              <a:t>• Per-zone wall clock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48456" y="3703320"/>
            <a:ext cx="1554480" cy="1234440"/>
          </a:xfrm>
          <a:prstGeom prst="roundRect">
            <a:avLst>
              <a:gd name="adj" fmla="val 8000"/>
            </a:avLst>
          </a:prstGeom>
          <a:solidFill>
            <a:srgbClr val="F3EEF9"/>
          </a:solidFill>
          <a:ln w="15875">
            <a:solidFill>
              <a:srgbClr val="7B52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ctr"/>
            <a:r>
              <a:rPr b="1" sz="1000">
                <a:solidFill>
                  <a:srgbClr val="3F2560"/>
                </a:solidFill>
              </a:rPr>
              <a:t>Produces</a:t>
            </a:r>
          </a:p>
          <a:p>
            <a:pPr algn="ctr"/>
            <a:r>
              <a:rPr sz="1000">
                <a:solidFill>
                  <a:srgbClr val="3F2560"/>
                </a:solidFill>
              </a:rPr>
              <a:t>manifest.json</a:t>
            </a:r>
          </a:p>
          <a:p>
            <a:pPr algn="ctr"/>
            <a:r>
              <a:rPr sz="1000">
                <a:solidFill>
                  <a:srgbClr val="3F2560"/>
                </a:solidFill>
              </a:rPr>
              <a:t>signing_full.csv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38727" y="1508760"/>
            <a:ext cx="109729" cy="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312663" y="1143000"/>
            <a:ext cx="1554480" cy="731520"/>
          </a:xfrm>
          <a:prstGeom prst="roundRect">
            <a:avLst>
              <a:gd name="adj" fmla="val 8000"/>
            </a:avLst>
          </a:prstGeom>
          <a:solidFill>
            <a:srgbClr val="2F6FB0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200">
                <a:solidFill>
                  <a:srgbClr val="FFFFFF"/>
                </a:solidFill>
              </a:rPr>
              <a:t>4  Sign trials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signtrials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12663" y="2011680"/>
            <a:ext cx="15544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l"/>
            <a:r>
              <a:rPr b="1" sz="1000">
                <a:solidFill>
                  <a:srgbClr val="4A5568"/>
                </a:solidFill>
              </a:rPr>
              <a:t>What it does</a:t>
            </a:r>
          </a:p>
          <a:p>
            <a:pPr algn="l"/>
            <a:r>
              <a:rPr sz="1000">
                <a:solidFill>
                  <a:srgbClr val="4A5568"/>
                </a:solidFill>
              </a:rPr>
              <a:t>• Sample leaf zones</a:t>
            </a:r>
          </a:p>
          <a:p>
            <a:pPr algn="l"/>
            <a:r>
              <a:rPr sz="1000">
                <a:solidFill>
                  <a:srgbClr val="4A5568"/>
                </a:solidFill>
              </a:rPr>
              <a:t>• Repeat N times</a:t>
            </a:r>
          </a:p>
          <a:p>
            <a:pPr algn="l"/>
            <a:r>
              <a:rPr sz="1000">
                <a:solidFill>
                  <a:srgbClr val="4A5568"/>
                </a:solidFill>
              </a:rPr>
              <a:t>• Estimate + 95% CI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12663" y="3703320"/>
            <a:ext cx="1554480" cy="1234440"/>
          </a:xfrm>
          <a:prstGeom prst="roundRect">
            <a:avLst>
              <a:gd name="adj" fmla="val 8000"/>
            </a:avLst>
          </a:prstGeom>
          <a:solidFill>
            <a:srgbClr val="F3EEF9"/>
          </a:solidFill>
          <a:ln w="15875">
            <a:solidFill>
              <a:srgbClr val="7B52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ctr"/>
            <a:r>
              <a:rPr b="1" sz="1000">
                <a:solidFill>
                  <a:srgbClr val="3F2560"/>
                </a:solidFill>
              </a:rPr>
              <a:t>Produces</a:t>
            </a:r>
          </a:p>
          <a:p>
            <a:pPr algn="ctr"/>
            <a:r>
              <a:rPr sz="1000">
                <a:solidFill>
                  <a:srgbClr val="3F2560"/>
                </a:solidFill>
              </a:rPr>
              <a:t>signing_trials_N.csv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02935" y="1508760"/>
            <a:ext cx="109728" cy="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976871" y="1143000"/>
            <a:ext cx="1554480" cy="731520"/>
          </a:xfrm>
          <a:prstGeom prst="roundRect">
            <a:avLst>
              <a:gd name="adj" fmla="val 8000"/>
            </a:avLst>
          </a:prstGeom>
          <a:solidFill>
            <a:srgbClr val="2F6FB0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200">
                <a:solidFill>
                  <a:srgbClr val="FFFFFF"/>
                </a:solidFill>
              </a:rPr>
              <a:t>5  Bring up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topology + compose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76871" y="2011680"/>
            <a:ext cx="15544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l"/>
            <a:r>
              <a:rPr b="1" sz="1000">
                <a:solidFill>
                  <a:srgbClr val="4A5568"/>
                </a:solidFill>
              </a:rPr>
              <a:t>What it does</a:t>
            </a:r>
          </a:p>
          <a:p>
            <a:pPr algn="l"/>
            <a:r>
              <a:rPr sz="1000">
                <a:solidFill>
                  <a:srgbClr val="4A5568"/>
                </a:solidFill>
              </a:rPr>
              <a:t>• NSD hierarchy</a:t>
            </a:r>
          </a:p>
          <a:p>
            <a:pPr algn="l"/>
            <a:r>
              <a:rPr sz="1000">
                <a:solidFill>
                  <a:srgbClr val="4A5568"/>
                </a:solidFill>
              </a:rPr>
              <a:t>• Unbound validating</a:t>
            </a:r>
          </a:p>
          <a:p>
            <a:pPr algn="l"/>
            <a:r>
              <a:rPr sz="1000">
                <a:solidFill>
                  <a:srgbClr val="4A5568"/>
                </a:solidFill>
              </a:rPr>
              <a:t>• Stub client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76871" y="3703320"/>
            <a:ext cx="1554480" cy="1234440"/>
          </a:xfrm>
          <a:prstGeom prst="roundRect">
            <a:avLst>
              <a:gd name="adj" fmla="val 8000"/>
            </a:avLst>
          </a:prstGeom>
          <a:solidFill>
            <a:srgbClr val="F3EEF9"/>
          </a:solidFill>
          <a:ln w="15875">
            <a:solidFill>
              <a:srgbClr val="7B52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ctr"/>
            <a:r>
              <a:rPr b="1" sz="1000">
                <a:solidFill>
                  <a:srgbClr val="3F2560"/>
                </a:solidFill>
              </a:rPr>
              <a:t>Produces</a:t>
            </a:r>
          </a:p>
          <a:p>
            <a:pPr algn="ctr"/>
            <a:r>
              <a:rPr sz="1000">
                <a:solidFill>
                  <a:srgbClr val="3F2560"/>
                </a:solidFill>
              </a:rPr>
              <a:t>compose.yml</a:t>
            </a:r>
          </a:p>
          <a:p>
            <a:pPr algn="ctr"/>
            <a:r>
              <a:rPr sz="1000">
                <a:solidFill>
                  <a:srgbClr val="3F2560"/>
                </a:solidFill>
              </a:rPr>
              <a:t>containers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67143" y="1508760"/>
            <a:ext cx="109728" cy="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641080" y="1143000"/>
            <a:ext cx="1554480" cy="731520"/>
          </a:xfrm>
          <a:prstGeom prst="roundRect">
            <a:avLst>
              <a:gd name="adj" fmla="val 8000"/>
            </a:avLst>
          </a:prstGeom>
          <a:solidFill>
            <a:srgbClr val="2F6FB0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200">
                <a:solidFill>
                  <a:srgbClr val="FFFFFF"/>
                </a:solidFill>
              </a:rPr>
              <a:t>6  Measure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ecolab.run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41080" y="2011680"/>
            <a:ext cx="15544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l"/>
            <a:r>
              <a:rPr b="1" sz="1000">
                <a:solidFill>
                  <a:srgbClr val="4A5568"/>
                </a:solidFill>
              </a:rPr>
              <a:t>What it does</a:t>
            </a:r>
          </a:p>
          <a:p>
            <a:pPr algn="l"/>
            <a:r>
              <a:rPr sz="1000">
                <a:solidFill>
                  <a:srgbClr val="4A5568"/>
                </a:solidFill>
              </a:rPr>
              <a:t>• Cold then warm</a:t>
            </a:r>
          </a:p>
          <a:p>
            <a:pPr algn="l"/>
            <a:r>
              <a:rPr sz="1000">
                <a:solidFill>
                  <a:srgbClr val="4A5568"/>
                </a:solidFill>
              </a:rPr>
              <a:t>• Seeded 2000 lookups</a:t>
            </a:r>
          </a:p>
          <a:p>
            <a:pPr algn="l"/>
            <a:r>
              <a:rPr sz="1000">
                <a:solidFill>
                  <a:srgbClr val="4A5568"/>
                </a:solidFill>
              </a:rPr>
              <a:t>• pcap + cache stats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41080" y="3703320"/>
            <a:ext cx="1554480" cy="1234440"/>
          </a:xfrm>
          <a:prstGeom prst="roundRect">
            <a:avLst>
              <a:gd name="adj" fmla="val 8000"/>
            </a:avLst>
          </a:prstGeom>
          <a:solidFill>
            <a:srgbClr val="F3EEF9"/>
          </a:solidFill>
          <a:ln w="15875">
            <a:solidFill>
              <a:srgbClr val="7B52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ctr"/>
            <a:r>
              <a:rPr b="1" sz="1000">
                <a:solidFill>
                  <a:srgbClr val="3F2560"/>
                </a:solidFill>
              </a:rPr>
              <a:t>Produces</a:t>
            </a:r>
          </a:p>
          <a:p>
            <a:pPr algn="ctr"/>
            <a:r>
              <a:rPr sz="1000">
                <a:solidFill>
                  <a:srgbClr val="3F2560"/>
                </a:solidFill>
              </a:rPr>
              <a:t>summary.csv</a:t>
            </a:r>
          </a:p>
          <a:p>
            <a:pPr algn="ctr"/>
            <a:r>
              <a:rPr sz="1000">
                <a:solidFill>
                  <a:srgbClr val="3F2560"/>
                </a:solidFill>
              </a:rPr>
              <a:t>pcap/</a:t>
            </a:r>
          </a:p>
          <a:p>
            <a:pPr algn="ctr"/>
            <a:r>
              <a:rPr sz="1000">
                <a:solidFill>
                  <a:srgbClr val="3F2560"/>
                </a:solidFill>
              </a:rPr>
              <a:t>run.json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531352" y="1508760"/>
            <a:ext cx="109728" cy="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305287" y="1143000"/>
            <a:ext cx="1554480" cy="731520"/>
          </a:xfrm>
          <a:prstGeom prst="roundRect">
            <a:avLst>
              <a:gd name="adj" fmla="val 8000"/>
            </a:avLst>
          </a:prstGeom>
          <a:solidFill>
            <a:srgbClr val="2F6FB0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200">
                <a:solidFill>
                  <a:srgbClr val="FFFFFF"/>
                </a:solidFill>
              </a:rPr>
              <a:t>7  Report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suite_report.py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05287" y="2011680"/>
            <a:ext cx="15544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l"/>
            <a:r>
              <a:rPr b="1" sz="1000">
                <a:solidFill>
                  <a:srgbClr val="4A5568"/>
                </a:solidFill>
              </a:rPr>
              <a:t>What it does</a:t>
            </a:r>
          </a:p>
          <a:p>
            <a:pPr algn="l"/>
            <a:r>
              <a:rPr sz="1000">
                <a:solidFill>
                  <a:srgbClr val="4A5568"/>
                </a:solidFill>
              </a:rPr>
              <a:t>• Figures</a:t>
            </a:r>
          </a:p>
          <a:p>
            <a:pPr algn="l"/>
            <a:r>
              <a:rPr sz="1000">
                <a:solidFill>
                  <a:srgbClr val="4A5568"/>
                </a:solidFill>
              </a:rPr>
              <a:t>• PS-036 tables</a:t>
            </a:r>
          </a:p>
          <a:p>
            <a:pPr algn="l"/>
            <a:r>
              <a:rPr sz="1000">
                <a:solidFill>
                  <a:srgbClr val="4A5568"/>
                </a:solidFill>
              </a:rPr>
              <a:t>• MTL vs SLH ratios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05287" y="3703320"/>
            <a:ext cx="1554480" cy="1234440"/>
          </a:xfrm>
          <a:prstGeom prst="roundRect">
            <a:avLst>
              <a:gd name="adj" fmla="val 8000"/>
            </a:avLst>
          </a:prstGeom>
          <a:solidFill>
            <a:srgbClr val="F3EEF9"/>
          </a:solidFill>
          <a:ln w="15875">
            <a:solidFill>
              <a:srgbClr val="7B52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ctr"/>
            <a:r>
              <a:rPr b="1" sz="1000">
                <a:solidFill>
                  <a:srgbClr val="3F2560"/>
                </a:solidFill>
              </a:rPr>
              <a:t>Produces</a:t>
            </a:r>
          </a:p>
          <a:p>
            <a:pPr algn="ctr"/>
            <a:r>
              <a:rPr sz="1000">
                <a:solidFill>
                  <a:srgbClr val="3F2560"/>
                </a:solidFill>
              </a:rPr>
              <a:t>report.md / .html</a:t>
            </a:r>
          </a:p>
          <a:p>
            <a:pPr algn="ctr"/>
            <a:r>
              <a:rPr sz="1000">
                <a:solidFill>
                  <a:srgbClr val="3F2560"/>
                </a:solidFill>
              </a:rPr>
              <a:t>figures/</a:t>
            </a:r>
          </a:p>
          <a:p>
            <a:pPr algn="ctr"/>
            <a:r>
              <a:rPr sz="1000">
                <a:solidFill>
                  <a:srgbClr val="3F2560"/>
                </a:solidFill>
              </a:rPr>
              <a:t>→ Compare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195559" y="1508760"/>
            <a:ext cx="109728" cy="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20040" y="5120640"/>
            <a:ext cx="5623560" cy="14173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l"/>
            <a:r>
              <a:rPr b="1" sz="1200">
                <a:solidFill>
                  <a:srgbClr val="1F3A5F"/>
                </a:solidFill>
              </a:rPr>
              <a:t>Companion: Path A (library)</a:t>
            </a:r>
          </a:p>
          <a:p>
            <a:pPr algn="l"/>
            <a:r>
              <a:rPr sz="1000">
                <a:solidFill>
                  <a:srgbClr val="1F3A5F"/>
                </a:solidFill>
              </a:rPr>
              <a:t>scripts/run_benchmark.ps1  →  results/runs/&lt;id&gt;/report.html</a:t>
            </a:r>
          </a:p>
          <a:p>
            <a:pPr algn="l"/>
            <a:r>
              <a:rPr sz="1000">
                <a:solidFill>
                  <a:srgbClr val="1F3A5F"/>
                </a:solidFill>
              </a:rPr>
              <a:t>Use ratios (MTL / SLH-DSA) next to the lab report — not absolute seconds</a:t>
            </a:r>
          </a:p>
          <a:p>
            <a:pPr algn="l"/>
            <a:r>
              <a:rPr sz="1000">
                <a:solidFill>
                  <a:srgbClr val="1F3A5F"/>
                </a:solidFill>
              </a:rPr>
              <a:t>Library pin MTL 7cef019 · Lab default stack draft06 (condensed-by-default)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5120640"/>
            <a:ext cx="5715000" cy="1417320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1587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l"/>
            <a:r>
              <a:rPr b="1" sz="1200">
                <a:solidFill>
                  <a:srgbClr val="7A4A00"/>
                </a:solidFill>
              </a:rPr>
              <a:t>Demo &amp; Compare</a:t>
            </a:r>
          </a:p>
          <a:p>
            <a:pPr algn="l"/>
            <a:r>
              <a:rPr sz="1000">
                <a:solidFill>
                  <a:srgbClr val="7A4A00"/>
                </a:solidFill>
              </a:rPr>
              <a:t>Live tile: one query + pcap sequence (technical demonstration)</a:t>
            </a:r>
          </a:p>
          <a:p>
            <a:pPr algn="l"/>
            <a:r>
              <a:rPr sz="1000">
                <a:solidFill>
                  <a:srgbClr val="7A4A00"/>
                </a:solidFill>
              </a:rPr>
              <a:t>Compare tile: Measured / Estimated / Analytical badges · Across sizes</a:t>
            </a:r>
          </a:p>
          <a:p>
            <a:pPr algn="l"/>
            <a:r>
              <a:rPr sz="1000">
                <a:solidFill>
                  <a:srgbClr val="7A4A00"/>
                </a:solidFill>
              </a:rPr>
              <a:t>Reset tile: wipe suites only when you choose — refresh does not delete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</a:rPr>
              <a:t>Cipherops: what the panel sees (outputs map)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7548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</a:rPr>
              <a:t>Keep core PS-036 numbers; use ratios to bridge library and lab; demo proves real DNS.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3703320" cy="4114800"/>
          </a:xfrm>
          <a:prstGeom prst="roundRect">
            <a:avLst>
              <a:gd name="adj" fmla="val 8000"/>
            </a:avLst>
          </a:prstGeom>
          <a:solidFill>
            <a:srgbClr val="EEF7EE"/>
          </a:solidFill>
          <a:ln w="15875">
            <a:solidFill>
              <a:srgbClr val="3C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l"/>
            <a:r>
              <a:rPr b="1" sz="1400">
                <a:solidFill>
                  <a:srgbClr val="1E4D21"/>
                </a:solidFill>
              </a:rPr>
              <a:t>KEEP — core scorecard</a:t>
            </a:r>
          </a:p>
          <a:p>
            <a:pPr algn="l"/>
            <a:r>
              <a:rPr sz="1200">
                <a:solidFill>
                  <a:srgbClr val="1E4D21"/>
                </a:solidFill>
              </a:rPr>
              <a:t/>
            </a:r>
          </a:p>
          <a:p>
            <a:pPr algn="l"/>
            <a:r>
              <a:rPr sz="1200">
                <a:solidFill>
                  <a:srgbClr val="1E4D21"/>
                </a:solidFill>
              </a:rPr>
              <a:t>Signing time (3 sizes)</a:t>
            </a:r>
          </a:p>
          <a:p>
            <a:pPr algn="l"/>
            <a:r>
              <a:rPr sz="1200">
                <a:solidFill>
                  <a:srgbClr val="1E4D21"/>
                </a:solidFill>
              </a:rPr>
              <a:t>Verification (labelled clock)</a:t>
            </a:r>
          </a:p>
          <a:p>
            <a:pPr algn="l"/>
            <a:r>
              <a:rPr sz="1200">
                <a:solidFill>
                  <a:srgbClr val="1E4D21"/>
                </a:solidFill>
              </a:rPr>
              <a:t>Transmitted bytes</a:t>
            </a:r>
          </a:p>
          <a:p>
            <a:pPr algn="l"/>
            <a:r>
              <a:rPr sz="1200">
                <a:solidFill>
                  <a:srgbClr val="1E4D21"/>
                </a:solidFill>
              </a:rPr>
              <a:t>Cache measured</a:t>
            </a:r>
          </a:p>
          <a:p>
            <a:pPr algn="l"/>
            <a:r>
              <a:rPr sz="1200">
                <a:solidFill>
                  <a:srgbClr val="1E4D21"/>
                </a:solidFill>
              </a:rPr>
              <a:t>Analytical (separate)</a:t>
            </a:r>
          </a:p>
          <a:p>
            <a:pPr algn="l"/>
            <a:r>
              <a:rPr sz="1200">
                <a:solidFill>
                  <a:srgbClr val="1E4D21"/>
                </a:solidFill>
              </a:rPr>
              <a:t>Pinned env + trials</a:t>
            </a:r>
          </a:p>
          <a:p>
            <a:pPr algn="l"/>
            <a:r>
              <a:rPr sz="1200">
                <a:solidFill>
                  <a:srgbClr val="1E4D21"/>
                </a:solidFill>
              </a:rPr>
              <a:t>report.html both paths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914400"/>
            <a:ext cx="3703320" cy="4114800"/>
          </a:xfrm>
          <a:prstGeom prst="roundRect">
            <a:avLst>
              <a:gd name="adj" fmla="val 8000"/>
            </a:avLst>
          </a:prstGeom>
          <a:solidFill>
            <a:srgbClr val="2F6FB0"/>
          </a:solidFill>
          <a:ln w="15875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l"/>
            <a:r>
              <a:rPr b="1" sz="1400">
                <a:solidFill>
                  <a:srgbClr val="FFFFFF"/>
                </a:solidFill>
              </a:rPr>
              <a:t>KEEP — panel aha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MTL vs SLH-DSA ratios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UDP fit / truncation story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Lab pcap wire bytes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Across-sizes charts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Live pcap 60s demo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Measured-once vs Estimated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914400"/>
            <a:ext cx="370332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36576" bIns="36576"/>
          <a:lstStyle/>
          <a:p>
            <a:pPr algn="l"/>
            <a:r>
              <a:rPr b="1" sz="1400">
                <a:solidFill>
                  <a:srgbClr val="4A5568"/>
                </a:solidFill>
              </a:rPr>
              <a:t>SOFT / bury</a:t>
            </a:r>
          </a:p>
          <a:p>
            <a:pPr algn="l"/>
            <a:r>
              <a:rPr sz="1200">
                <a:solidFill>
                  <a:srgbClr val="4A5568"/>
                </a:solidFill>
              </a:rPr>
              <a:t/>
            </a:r>
          </a:p>
          <a:p>
            <a:pPr algn="l"/>
            <a:r>
              <a:rPr sz="1200">
                <a:solidFill>
                  <a:srgbClr val="4A5568"/>
                </a:solidFill>
              </a:rPr>
              <a:t>Per-tier hop charts</a:t>
            </a:r>
          </a:p>
          <a:p>
            <a:pPr algn="l"/>
            <a:r>
              <a:rPr sz="1200">
                <a:solidFill>
                  <a:srgbClr val="4A5568"/>
                </a:solidFill>
              </a:rPr>
              <a:t>Wan / lossy / Zipf deep dive</a:t>
            </a:r>
          </a:p>
          <a:p>
            <a:pPr algn="l"/>
            <a:r>
              <a:rPr sz="1200">
                <a:solidFill>
                  <a:srgbClr val="4A5568"/>
                </a:solidFill>
              </a:rPr>
              <a:t>All five algos on one slide</a:t>
            </a:r>
          </a:p>
          <a:p>
            <a:pPr algn="l"/>
            <a:r>
              <a:rPr sz="1200">
                <a:solidFill>
                  <a:srgbClr val="4A5568"/>
                </a:solidFill>
              </a:rPr>
              <a:t>Jobs / sample knobs</a:t>
            </a:r>
          </a:p>
          <a:p>
            <a:pPr algn="l"/>
            <a:r>
              <a:rPr sz="1200">
                <a:solidFill>
                  <a:srgbClr val="4A5568"/>
                </a:solidFill>
              </a:rPr>
              <a:t>Absolute lab vs library seconds</a:t>
            </a:r>
          </a:p>
          <a:p>
            <a:pPr algn="l"/>
            <a:r>
              <a:rPr sz="1200">
                <a:solidFill>
                  <a:srgbClr val="4A5568"/>
                </a:solidFill>
              </a:rPr>
              <a:t>mixed-mtl unless asked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5212080"/>
            <a:ext cx="11658600" cy="132588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b="1" sz="1400">
                <a:solidFill>
                  <a:srgbClr val="FFFFFF"/>
                </a:solidFill>
              </a:rPr>
              <a:t>One sentence for the room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Library proves the crypto cost.  Lab proves the DNS path.  Same algorithm with and without MTL; ratios agree; reports and pins are reproducible.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